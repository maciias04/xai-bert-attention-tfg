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9" r:id="rId11"/>
    <p:sldId id="270" r:id="rId12"/>
    <p:sldId id="265" r:id="rId13"/>
    <p:sldId id="266" r:id="rId14"/>
    <p:sldId id="267" r:id="rId15"/>
    <p:sldId id="268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3688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907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7404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Texto del título</a:t>
            </a:r>
          </a:p>
        </p:txBody>
      </p:sp>
      <p:sp>
        <p:nvSpPr>
          <p:cNvPr id="3" name="Nivel de texto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5" name="Text 3"/>
          <p:cNvSpPr txBox="1"/>
          <p:nvPr/>
        </p:nvSpPr>
        <p:spPr>
          <a:xfrm>
            <a:off x="566927" y="1481327"/>
            <a:ext cx="4937762" cy="1051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Inteligencia Artificial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Explicativa (XAI)</a:t>
            </a:r>
          </a:p>
        </p:txBody>
      </p:sp>
      <p:sp>
        <p:nvSpPr>
          <p:cNvPr id="26" name="Text 4"/>
          <p:cNvSpPr txBox="1"/>
          <p:nvPr/>
        </p:nvSpPr>
        <p:spPr>
          <a:xfrm>
            <a:off x="585216" y="2670370"/>
            <a:ext cx="45720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F6EAE1"/>
                </a:solidFill>
              </a:defRPr>
            </a:lvl1pPr>
          </a:lstStyle>
          <a:p>
            <a:r>
              <a:t>Métodos y Prueba de Concepto</a:t>
            </a:r>
          </a:p>
        </p:txBody>
      </p:sp>
      <p:sp>
        <p:nvSpPr>
          <p:cNvPr id="27" name="Shape 5"/>
          <p:cNvSpPr/>
          <p:nvPr/>
        </p:nvSpPr>
        <p:spPr>
          <a:xfrm>
            <a:off x="585216" y="3127248"/>
            <a:ext cx="3611880" cy="1"/>
          </a:xfrm>
          <a:prstGeom prst="line">
            <a:avLst/>
          </a:prstGeom>
          <a:ln w="2794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" name="Text 6"/>
          <p:cNvSpPr txBox="1"/>
          <p:nvPr/>
        </p:nvSpPr>
        <p:spPr>
          <a:xfrm>
            <a:off x="603504" y="4604810"/>
            <a:ext cx="365760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Trabajo Final de Grado</a:t>
            </a:r>
          </a:p>
        </p:txBody>
      </p:sp>
      <p:sp>
        <p:nvSpPr>
          <p:cNvPr id="29" name="Text 7"/>
          <p:cNvSpPr txBox="1"/>
          <p:nvPr/>
        </p:nvSpPr>
        <p:spPr>
          <a:xfrm>
            <a:off x="603503" y="4846320"/>
            <a:ext cx="4389122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>
                <a:solidFill>
                  <a:srgbClr val="F6EAE1"/>
                </a:solidFill>
              </a:defRPr>
            </a:lvl1pPr>
          </a:lstStyle>
          <a:p>
            <a:r>
              <a:t>Adrián Macias Caballero · Tutor: José Camacho Páez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t="25" b="24"/>
          <a:stretch>
            <a:fillRect/>
          </a:stretch>
        </p:blipFill>
        <p:spPr>
          <a:xfrm>
            <a:off x="793" y="446"/>
            <a:ext cx="12190109" cy="6857109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hape 0"/>
          <p:cNvSpPr/>
          <p:nvPr/>
        </p:nvSpPr>
        <p:spPr>
          <a:xfrm>
            <a:off x="793" y="446"/>
            <a:ext cx="5988542" cy="6857109"/>
          </a:xfrm>
          <a:prstGeom prst="rect">
            <a:avLst/>
          </a:prstGeom>
          <a:solidFill>
            <a:srgbClr val="7A0F25">
              <a:alpha val="95000"/>
            </a:srgbClr>
          </a:solidFill>
          <a:ln w="12700">
            <a:solidFill>
              <a:srgbClr val="7A0F25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Shape 1"/>
          <p:cNvSpPr/>
          <p:nvPr/>
        </p:nvSpPr>
        <p:spPr>
          <a:xfrm>
            <a:off x="6144762" y="503300"/>
            <a:ext cx="5467401" cy="5897114"/>
          </a:xfrm>
          <a:prstGeom prst="rect">
            <a:avLst/>
          </a:prstGeom>
          <a:solidFill>
            <a:srgbClr val="FFF8EF">
              <a:alpha val="8700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Text 2"/>
          <p:cNvSpPr txBox="1"/>
          <p:nvPr/>
        </p:nvSpPr>
        <p:spPr>
          <a:xfrm>
            <a:off x="686503" y="554085"/>
            <a:ext cx="43885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 b="1">
                <a:solidFill>
                  <a:srgbClr val="F5E7D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UNIVERSIDAD DE GRANADA</a:t>
            </a:r>
          </a:p>
        </p:txBody>
      </p:sp>
      <p:sp>
        <p:nvSpPr>
          <p:cNvPr id="35" name="Text 3"/>
          <p:cNvSpPr txBox="1"/>
          <p:nvPr/>
        </p:nvSpPr>
        <p:spPr>
          <a:xfrm>
            <a:off x="659076" y="1108725"/>
            <a:ext cx="4479977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r>
              <a:t>Índice</a:t>
            </a:r>
          </a:p>
        </p:txBody>
      </p:sp>
      <p:sp>
        <p:nvSpPr>
          <p:cNvPr id="36" name="Text 4"/>
          <p:cNvSpPr txBox="1"/>
          <p:nvPr/>
        </p:nvSpPr>
        <p:spPr>
          <a:xfrm>
            <a:off x="695646" y="1760886"/>
            <a:ext cx="4022836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4D7C5"/>
                </a:solidFill>
              </a:defRPr>
            </a:lvl1pPr>
          </a:lstStyle>
          <a:p>
            <a:r>
              <a:t>Defensa del Trabajo Fin de Grado</a:t>
            </a:r>
          </a:p>
        </p:txBody>
      </p:sp>
      <p:sp>
        <p:nvSpPr>
          <p:cNvPr id="37" name="Shape 5"/>
          <p:cNvSpPr/>
          <p:nvPr/>
        </p:nvSpPr>
        <p:spPr>
          <a:xfrm>
            <a:off x="686504" y="2213006"/>
            <a:ext cx="3245699" cy="1"/>
          </a:xfrm>
          <a:prstGeom prst="line">
            <a:avLst/>
          </a:prstGeom>
          <a:ln w="33020">
            <a:solidFill>
              <a:srgbClr val="F6C15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Text 6"/>
          <p:cNvSpPr txBox="1"/>
          <p:nvPr/>
        </p:nvSpPr>
        <p:spPr>
          <a:xfrm>
            <a:off x="695646" y="5230133"/>
            <a:ext cx="4434264" cy="566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Inteligencia Artificial Explicativa (XAI)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Métodos y Prueba de Concepto</a:t>
            </a:r>
          </a:p>
        </p:txBody>
      </p:sp>
      <p:sp>
        <p:nvSpPr>
          <p:cNvPr id="39" name="Text 7"/>
          <p:cNvSpPr txBox="1"/>
          <p:nvPr/>
        </p:nvSpPr>
        <p:spPr>
          <a:xfrm>
            <a:off x="695646" y="6026058"/>
            <a:ext cx="47085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F4D7C5"/>
                </a:solidFill>
              </a:defRPr>
            </a:lvl1pPr>
          </a:lstStyle>
          <a:p>
            <a:r>
              <a:t>Adrián Macias Caballero · Tutor: José Camacho Páez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6550849" y="942464"/>
            <a:ext cx="50285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8A1538"/>
                </a:solidFill>
              </a:defRPr>
            </a:lvl1pPr>
          </a:lstStyle>
          <a:p>
            <a:r>
              <a:rPr dirty="0"/>
              <a:t>01</a:t>
            </a:r>
          </a:p>
        </p:txBody>
      </p:sp>
      <p:sp>
        <p:nvSpPr>
          <p:cNvPr id="41" name="Text 9"/>
          <p:cNvSpPr txBox="1"/>
          <p:nvPr/>
        </p:nvSpPr>
        <p:spPr>
          <a:xfrm>
            <a:off x="6885329" y="942464"/>
            <a:ext cx="415997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D2A2A"/>
                </a:solidFill>
              </a:defRPr>
            </a:lvl1pPr>
          </a:lstStyle>
          <a:p>
            <a:r>
              <a:t>Contexto y objetivos</a:t>
            </a:r>
          </a:p>
        </p:txBody>
      </p:sp>
      <p:sp>
        <p:nvSpPr>
          <p:cNvPr id="42" name="Text 10"/>
          <p:cNvSpPr txBox="1"/>
          <p:nvPr/>
        </p:nvSpPr>
        <p:spPr>
          <a:xfrm>
            <a:off x="6885329" y="1225583"/>
            <a:ext cx="4297121" cy="25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B5D5D"/>
                </a:solidFill>
              </a:defRPr>
            </a:lvl1pPr>
          </a:lstStyle>
          <a:p>
            <a:r>
              <a:t>Motivación · Objetivos · Tema</a:t>
            </a:r>
          </a:p>
        </p:txBody>
      </p:sp>
      <p:sp>
        <p:nvSpPr>
          <p:cNvPr id="43" name="Shape 11"/>
          <p:cNvSpPr/>
          <p:nvPr/>
        </p:nvSpPr>
        <p:spPr>
          <a:xfrm>
            <a:off x="6885329" y="1573009"/>
            <a:ext cx="4434264" cy="1"/>
          </a:xfrm>
          <a:prstGeom prst="line">
            <a:avLst/>
          </a:prstGeom>
          <a:ln w="6985">
            <a:solidFill>
              <a:srgbClr val="D7C4B6">
                <a:alpha val="9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" name="Text 12"/>
          <p:cNvSpPr txBox="1"/>
          <p:nvPr/>
        </p:nvSpPr>
        <p:spPr>
          <a:xfrm>
            <a:off x="6550849" y="1817173"/>
            <a:ext cx="50285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8A1538"/>
                </a:solidFill>
              </a:defRPr>
            </a:lvl1pPr>
          </a:lstStyle>
          <a:p>
            <a:r>
              <a:rPr dirty="0"/>
              <a:t>02</a:t>
            </a:r>
          </a:p>
        </p:txBody>
      </p:sp>
      <p:sp>
        <p:nvSpPr>
          <p:cNvPr id="45" name="Text 13"/>
          <p:cNvSpPr txBox="1"/>
          <p:nvPr/>
        </p:nvSpPr>
        <p:spPr>
          <a:xfrm>
            <a:off x="6885329" y="1801888"/>
            <a:ext cx="415997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D2A2A"/>
                </a:solidFill>
              </a:defRPr>
            </a:lvl1pPr>
          </a:lstStyle>
          <a:p>
            <a:r>
              <a:t>Caso de estudio</a:t>
            </a:r>
          </a:p>
        </p:txBody>
      </p:sp>
      <p:sp>
        <p:nvSpPr>
          <p:cNvPr id="46" name="Text 14"/>
          <p:cNvSpPr txBox="1"/>
          <p:nvPr/>
        </p:nvSpPr>
        <p:spPr>
          <a:xfrm>
            <a:off x="6885329" y="2085007"/>
            <a:ext cx="4297121" cy="25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B5D5D"/>
                </a:solidFill>
              </a:defRPr>
            </a:lvl1pPr>
          </a:lstStyle>
          <a:p>
            <a:r>
              <a:t>BERT · Attention Maps · Flujo experimental</a:t>
            </a:r>
          </a:p>
        </p:txBody>
      </p:sp>
      <p:sp>
        <p:nvSpPr>
          <p:cNvPr id="47" name="Shape 15"/>
          <p:cNvSpPr/>
          <p:nvPr/>
        </p:nvSpPr>
        <p:spPr>
          <a:xfrm>
            <a:off x="6885329" y="2432434"/>
            <a:ext cx="4434264" cy="1"/>
          </a:xfrm>
          <a:prstGeom prst="line">
            <a:avLst/>
          </a:prstGeom>
          <a:ln w="6985">
            <a:solidFill>
              <a:srgbClr val="D7C4B6">
                <a:alpha val="9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8" name="Text 16"/>
          <p:cNvSpPr txBox="1"/>
          <p:nvPr/>
        </p:nvSpPr>
        <p:spPr>
          <a:xfrm>
            <a:off x="6550849" y="2676595"/>
            <a:ext cx="50285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8A1538"/>
                </a:solidFill>
              </a:defRPr>
            </a:lvl1pPr>
          </a:lstStyle>
          <a:p>
            <a:r>
              <a:rPr dirty="0"/>
              <a:t>03</a:t>
            </a:r>
          </a:p>
        </p:txBody>
      </p:sp>
      <p:sp>
        <p:nvSpPr>
          <p:cNvPr id="49" name="Text 17"/>
          <p:cNvSpPr txBox="1"/>
          <p:nvPr/>
        </p:nvSpPr>
        <p:spPr>
          <a:xfrm>
            <a:off x="6885329" y="2661312"/>
            <a:ext cx="415997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D2A2A"/>
                </a:solidFill>
              </a:defRPr>
            </a:lvl1pPr>
          </a:lstStyle>
          <a:p>
            <a:r>
              <a:t>Métodos aplicados</a:t>
            </a:r>
          </a:p>
        </p:txBody>
      </p:sp>
      <p:sp>
        <p:nvSpPr>
          <p:cNvPr id="50" name="Text 18"/>
          <p:cNvSpPr txBox="1"/>
          <p:nvPr/>
        </p:nvSpPr>
        <p:spPr>
          <a:xfrm>
            <a:off x="6885329" y="2944430"/>
            <a:ext cx="4297121" cy="25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B5D5D"/>
                </a:solidFill>
              </a:defRPr>
            </a:lvl1pPr>
          </a:lstStyle>
          <a:p>
            <a:r>
              <a:t>PCA · oMEDA · SHAP · PLS-DA · ASCA</a:t>
            </a:r>
          </a:p>
        </p:txBody>
      </p:sp>
      <p:sp>
        <p:nvSpPr>
          <p:cNvPr id="51" name="Shape 19"/>
          <p:cNvSpPr/>
          <p:nvPr/>
        </p:nvSpPr>
        <p:spPr>
          <a:xfrm>
            <a:off x="6885329" y="3291857"/>
            <a:ext cx="4434264" cy="1"/>
          </a:xfrm>
          <a:prstGeom prst="line">
            <a:avLst/>
          </a:prstGeom>
          <a:ln w="6985">
            <a:solidFill>
              <a:srgbClr val="D7C4B6">
                <a:alpha val="9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" name="Text 20"/>
          <p:cNvSpPr txBox="1"/>
          <p:nvPr/>
        </p:nvSpPr>
        <p:spPr>
          <a:xfrm>
            <a:off x="6550849" y="3535233"/>
            <a:ext cx="50285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8A1538"/>
                </a:solidFill>
              </a:defRPr>
            </a:lvl1pPr>
          </a:lstStyle>
          <a:p>
            <a:r>
              <a:rPr dirty="0"/>
              <a:t>04</a:t>
            </a:r>
          </a:p>
        </p:txBody>
      </p:sp>
      <p:sp>
        <p:nvSpPr>
          <p:cNvPr id="53" name="Text 21"/>
          <p:cNvSpPr txBox="1"/>
          <p:nvPr/>
        </p:nvSpPr>
        <p:spPr>
          <a:xfrm>
            <a:off x="6885329" y="3520736"/>
            <a:ext cx="415997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D2A2A"/>
                </a:solidFill>
              </a:defRPr>
            </a:lvl1pPr>
          </a:lstStyle>
          <a:p>
            <a:r>
              <a:t>Resultados obtenidos</a:t>
            </a:r>
          </a:p>
        </p:txBody>
      </p:sp>
      <p:sp>
        <p:nvSpPr>
          <p:cNvPr id="54" name="Text 22"/>
          <p:cNvSpPr txBox="1"/>
          <p:nvPr/>
        </p:nvSpPr>
        <p:spPr>
          <a:xfrm>
            <a:off x="6885329" y="3803855"/>
            <a:ext cx="4297121" cy="25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B5D5D"/>
                </a:solidFill>
              </a:defRPr>
            </a:lvl1pPr>
          </a:lstStyle>
          <a:p>
            <a:r>
              <a:t>Análisis por método y comportamiento observado</a:t>
            </a:r>
          </a:p>
        </p:txBody>
      </p:sp>
      <p:sp>
        <p:nvSpPr>
          <p:cNvPr id="55" name="Shape 23"/>
          <p:cNvSpPr/>
          <p:nvPr/>
        </p:nvSpPr>
        <p:spPr>
          <a:xfrm>
            <a:off x="6885329" y="4151281"/>
            <a:ext cx="4434264" cy="1"/>
          </a:xfrm>
          <a:prstGeom prst="line">
            <a:avLst/>
          </a:prstGeom>
          <a:ln w="6985">
            <a:solidFill>
              <a:srgbClr val="D7C4B6">
                <a:alpha val="9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" name="Text 24"/>
          <p:cNvSpPr txBox="1"/>
          <p:nvPr/>
        </p:nvSpPr>
        <p:spPr>
          <a:xfrm>
            <a:off x="6550849" y="4404729"/>
            <a:ext cx="502856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8A1538"/>
                </a:solidFill>
              </a:defRPr>
            </a:lvl1pPr>
          </a:lstStyle>
          <a:p>
            <a:r>
              <a:rPr dirty="0"/>
              <a:t>05</a:t>
            </a:r>
          </a:p>
        </p:txBody>
      </p:sp>
      <p:sp>
        <p:nvSpPr>
          <p:cNvPr id="57" name="Text 25"/>
          <p:cNvSpPr txBox="1"/>
          <p:nvPr/>
        </p:nvSpPr>
        <p:spPr>
          <a:xfrm>
            <a:off x="6885329" y="4380160"/>
            <a:ext cx="415997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D2A2A"/>
                </a:solidFill>
              </a:defRPr>
            </a:lvl1pPr>
          </a:lstStyle>
          <a:p>
            <a:r>
              <a:t>Comparación global</a:t>
            </a:r>
          </a:p>
        </p:txBody>
      </p:sp>
      <p:sp>
        <p:nvSpPr>
          <p:cNvPr id="58" name="Text 26"/>
          <p:cNvSpPr txBox="1"/>
          <p:nvPr/>
        </p:nvSpPr>
        <p:spPr>
          <a:xfrm>
            <a:off x="6885329" y="4663278"/>
            <a:ext cx="4297121" cy="25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B5D5D"/>
                </a:solidFill>
              </a:defRPr>
            </a:lvl1pPr>
          </a:lstStyle>
          <a:p>
            <a:r>
              <a:t>Tokens · Interpretación conjunta de métodos</a:t>
            </a:r>
          </a:p>
        </p:txBody>
      </p:sp>
      <p:sp>
        <p:nvSpPr>
          <p:cNvPr id="59" name="Shape 27"/>
          <p:cNvSpPr/>
          <p:nvPr/>
        </p:nvSpPr>
        <p:spPr>
          <a:xfrm>
            <a:off x="6885329" y="5010706"/>
            <a:ext cx="4434264" cy="1"/>
          </a:xfrm>
          <a:prstGeom prst="line">
            <a:avLst/>
          </a:prstGeom>
          <a:ln w="6985">
            <a:solidFill>
              <a:srgbClr val="D7C4B6">
                <a:alpha val="9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" name="Text 28"/>
          <p:cNvSpPr txBox="1"/>
          <p:nvPr/>
        </p:nvSpPr>
        <p:spPr>
          <a:xfrm>
            <a:off x="6550849" y="5255318"/>
            <a:ext cx="502856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 b="1">
                <a:solidFill>
                  <a:srgbClr val="8A1538"/>
                </a:solidFill>
              </a:defRPr>
            </a:lvl1pPr>
          </a:lstStyle>
          <a:p>
            <a:r>
              <a:rPr dirty="0"/>
              <a:t>06</a:t>
            </a:r>
          </a:p>
        </p:txBody>
      </p:sp>
      <p:sp>
        <p:nvSpPr>
          <p:cNvPr id="61" name="Text 29"/>
          <p:cNvSpPr txBox="1"/>
          <p:nvPr/>
        </p:nvSpPr>
        <p:spPr>
          <a:xfrm>
            <a:off x="6885329" y="5239584"/>
            <a:ext cx="4159978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2D2A2A"/>
                </a:solidFill>
              </a:defRPr>
            </a:lvl1pPr>
          </a:lstStyle>
          <a:p>
            <a:r>
              <a:t>Cierre</a:t>
            </a:r>
          </a:p>
        </p:txBody>
      </p:sp>
      <p:sp>
        <p:nvSpPr>
          <p:cNvPr id="62" name="Text 30"/>
          <p:cNvSpPr txBox="1"/>
          <p:nvPr/>
        </p:nvSpPr>
        <p:spPr>
          <a:xfrm>
            <a:off x="6885329" y="5522702"/>
            <a:ext cx="4297121" cy="25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1000">
                <a:solidFill>
                  <a:srgbClr val="6B5D5D"/>
                </a:solidFill>
              </a:defRPr>
            </a:lvl1pPr>
          </a:lstStyle>
          <a:p>
            <a:r>
              <a:t>Conclusiones · Líneas futuras</a:t>
            </a:r>
          </a:p>
        </p:txBody>
      </p:sp>
      <p:sp>
        <p:nvSpPr>
          <p:cNvPr id="63" name="Shape 31"/>
          <p:cNvSpPr/>
          <p:nvPr/>
        </p:nvSpPr>
        <p:spPr>
          <a:xfrm>
            <a:off x="6885329" y="5870130"/>
            <a:ext cx="4434264" cy="1"/>
          </a:xfrm>
          <a:prstGeom prst="line">
            <a:avLst/>
          </a:prstGeom>
          <a:ln w="6985">
            <a:solidFill>
              <a:srgbClr val="D7C4B6">
                <a:alpha val="90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Shape 0"/>
          <p:cNvSpPr/>
          <p:nvPr/>
        </p:nvSpPr>
        <p:spPr>
          <a:xfrm>
            <a:off x="1" y="0"/>
            <a:ext cx="4349262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1"/>
          <p:cNvSpPr/>
          <p:nvPr/>
        </p:nvSpPr>
        <p:spPr>
          <a:xfrm>
            <a:off x="4349263" y="11724"/>
            <a:ext cx="7842433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91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lang="es-ES" dirty="0" smtClean="0"/>
              <a:t>3</a:t>
            </a:r>
            <a:endParaRPr dirty="0"/>
          </a:p>
        </p:txBody>
      </p:sp>
      <p:sp>
        <p:nvSpPr>
          <p:cNvPr id="94" name="Text 5"/>
          <p:cNvSpPr txBox="1"/>
          <p:nvPr/>
        </p:nvSpPr>
        <p:spPr>
          <a:xfrm>
            <a:off x="621791" y="1719072"/>
            <a:ext cx="4800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lang="es-ES" dirty="0" smtClean="0"/>
              <a:t>1</a:t>
            </a:r>
            <a:r>
              <a:rPr dirty="0" smtClean="0"/>
              <a:t>. </a:t>
            </a:r>
            <a:r>
              <a:rPr dirty="0"/>
              <a:t>TEMA</a:t>
            </a:r>
          </a:p>
        </p:txBody>
      </p:sp>
      <p:sp>
        <p:nvSpPr>
          <p:cNvPr id="95" name="Shape 6"/>
          <p:cNvSpPr/>
          <p:nvPr/>
        </p:nvSpPr>
        <p:spPr>
          <a:xfrm>
            <a:off x="329418" y="3219391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262" y="883689"/>
            <a:ext cx="7842433" cy="46714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5089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Shape 0"/>
          <p:cNvSpPr/>
          <p:nvPr/>
        </p:nvSpPr>
        <p:spPr>
          <a:xfrm>
            <a:off x="0" y="0"/>
            <a:ext cx="4448908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Shape 1"/>
          <p:cNvSpPr/>
          <p:nvPr/>
        </p:nvSpPr>
        <p:spPr>
          <a:xfrm>
            <a:off x="4448908" y="0"/>
            <a:ext cx="7742787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69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lang="es-ES" dirty="0" smtClean="0"/>
              <a:t>4</a:t>
            </a:r>
            <a:endParaRPr dirty="0"/>
          </a:p>
        </p:txBody>
      </p:sp>
      <p:sp>
        <p:nvSpPr>
          <p:cNvPr id="72" name="Text 5"/>
          <p:cNvSpPr txBox="1"/>
          <p:nvPr/>
        </p:nvSpPr>
        <p:spPr>
          <a:xfrm>
            <a:off x="621791" y="1719072"/>
            <a:ext cx="4800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3700" b="1">
                <a:solidFill>
                  <a:srgbClr val="FFFFFF"/>
                </a:solidFill>
              </a:defRPr>
            </a:pPr>
            <a:r>
              <a:rPr lang="es-ES" sz="3300" dirty="0"/>
              <a:t>2</a:t>
            </a:r>
            <a:r>
              <a:rPr sz="3300" dirty="0" smtClean="0"/>
              <a:t>.</a:t>
            </a:r>
            <a:r>
              <a:rPr dirty="0" smtClean="0"/>
              <a:t> </a:t>
            </a:r>
            <a:r>
              <a:rPr sz="3300" dirty="0"/>
              <a:t>MOTIVACIÓN</a:t>
            </a:r>
          </a:p>
        </p:txBody>
      </p:sp>
      <p:sp>
        <p:nvSpPr>
          <p:cNvPr id="73" name="Shape 6"/>
          <p:cNvSpPr/>
          <p:nvPr/>
        </p:nvSpPr>
        <p:spPr>
          <a:xfrm>
            <a:off x="341141" y="3218686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08" y="873024"/>
            <a:ext cx="7743091" cy="469132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4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7" name="Shape 0"/>
          <p:cNvSpPr/>
          <p:nvPr/>
        </p:nvSpPr>
        <p:spPr>
          <a:xfrm>
            <a:off x="0" y="0"/>
            <a:ext cx="4395521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Shape 1"/>
          <p:cNvSpPr/>
          <p:nvPr/>
        </p:nvSpPr>
        <p:spPr>
          <a:xfrm>
            <a:off x="4395522" y="0"/>
            <a:ext cx="7796174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80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lang="es-ES" dirty="0" smtClean="0"/>
              <a:t>5</a:t>
            </a:r>
            <a:endParaRPr dirty="0"/>
          </a:p>
        </p:txBody>
      </p:sp>
      <p:sp>
        <p:nvSpPr>
          <p:cNvPr id="83" name="Text 5"/>
          <p:cNvSpPr txBox="1"/>
          <p:nvPr/>
        </p:nvSpPr>
        <p:spPr>
          <a:xfrm>
            <a:off x="621791" y="1719072"/>
            <a:ext cx="4800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lang="es-ES" dirty="0" smtClean="0"/>
              <a:t>3</a:t>
            </a:r>
            <a:r>
              <a:rPr dirty="0" smtClean="0"/>
              <a:t>. </a:t>
            </a:r>
            <a:r>
              <a:rPr dirty="0"/>
              <a:t>OBJETIVOS: </a:t>
            </a:r>
          </a:p>
          <a:p>
            <a:pPr>
              <a:defRPr sz="3300" b="1">
                <a:solidFill>
                  <a:srgbClr val="FFFFFF"/>
                </a:solidFill>
              </a:defRPr>
            </a:pPr>
            <a:r>
              <a:rPr dirty="0"/>
              <a:t>¿POR QUÉ XAI?</a:t>
            </a:r>
          </a:p>
        </p:txBody>
      </p:sp>
      <p:sp>
        <p:nvSpPr>
          <p:cNvPr id="84" name="Shape 6"/>
          <p:cNvSpPr/>
          <p:nvPr/>
        </p:nvSpPr>
        <p:spPr>
          <a:xfrm>
            <a:off x="402336" y="3172967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218" y="914400"/>
            <a:ext cx="7796326" cy="481678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0"/>
          <p:cNvSpPr/>
          <p:nvPr/>
        </p:nvSpPr>
        <p:spPr>
          <a:xfrm>
            <a:off x="0" y="0"/>
            <a:ext cx="4384431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Shape 1"/>
          <p:cNvSpPr/>
          <p:nvPr/>
        </p:nvSpPr>
        <p:spPr>
          <a:xfrm>
            <a:off x="4384432" y="0"/>
            <a:ext cx="7807264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0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6</a:t>
            </a:r>
          </a:p>
        </p:txBody>
      </p:sp>
      <p:sp>
        <p:nvSpPr>
          <p:cNvPr id="105" name="Text 5"/>
          <p:cNvSpPr txBox="1"/>
          <p:nvPr/>
        </p:nvSpPr>
        <p:spPr>
          <a:xfrm>
            <a:off x="621791" y="1719072"/>
            <a:ext cx="2654809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dirty="0"/>
              <a:t>4. CASO DE ESTUDIO</a:t>
            </a:r>
          </a:p>
        </p:txBody>
      </p:sp>
      <p:sp>
        <p:nvSpPr>
          <p:cNvPr id="106" name="Shape 6"/>
          <p:cNvSpPr/>
          <p:nvPr/>
        </p:nvSpPr>
        <p:spPr>
          <a:xfrm>
            <a:off x="259080" y="3042841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431" y="870394"/>
            <a:ext cx="7807264" cy="48035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1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0035" y="6008414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7</a:t>
            </a:r>
          </a:p>
        </p:txBody>
      </p:sp>
      <p:sp>
        <p:nvSpPr>
          <p:cNvPr id="116" name="Text 5"/>
          <p:cNvSpPr txBox="1"/>
          <p:nvPr/>
        </p:nvSpPr>
        <p:spPr>
          <a:xfrm>
            <a:off x="610035" y="578643"/>
            <a:ext cx="4800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80000"/>
              </a:lnSpc>
              <a:defRPr sz="2800" b="1">
                <a:solidFill>
                  <a:srgbClr val="FFFFFF"/>
                </a:solidFill>
              </a:defRPr>
            </a:pPr>
            <a:r>
              <a:t>5. BERT </a:t>
            </a:r>
          </a:p>
          <a:p>
            <a:pPr algn="ctr">
              <a:lnSpc>
                <a:spcPct val="80000"/>
              </a:lnSpc>
              <a:defRPr sz="2800" b="1">
                <a:solidFill>
                  <a:srgbClr val="FFFFFF"/>
                </a:solidFill>
              </a:defRPr>
            </a:pPr>
            <a:r>
              <a:rPr sz="1400" b="0" i="1">
                <a:latin typeface="Roboto Black"/>
                <a:ea typeface="Roboto Black"/>
                <a:cs typeface="Roboto Black"/>
                <a:sym typeface="Roboto Black"/>
              </a:rPr>
              <a:t>(Bidirectional Encoder Representations from Transformers)</a:t>
            </a:r>
          </a:p>
        </p:txBody>
      </p:sp>
      <p:sp>
        <p:nvSpPr>
          <p:cNvPr id="117" name="Shape 6"/>
          <p:cNvSpPr/>
          <p:nvPr/>
        </p:nvSpPr>
        <p:spPr>
          <a:xfrm>
            <a:off x="1204415" y="1596223"/>
            <a:ext cx="3840481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421" y="0"/>
            <a:ext cx="4121215" cy="68580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415" y="1721396"/>
            <a:ext cx="2440969" cy="42870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Shape 0"/>
          <p:cNvSpPr/>
          <p:nvPr/>
        </p:nvSpPr>
        <p:spPr>
          <a:xfrm>
            <a:off x="0" y="0"/>
            <a:ext cx="4437185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" name="Shape 1"/>
          <p:cNvSpPr/>
          <p:nvPr/>
        </p:nvSpPr>
        <p:spPr>
          <a:xfrm>
            <a:off x="4437186" y="0"/>
            <a:ext cx="7754510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2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8</a:t>
            </a:r>
          </a:p>
        </p:txBody>
      </p:sp>
      <p:sp>
        <p:nvSpPr>
          <p:cNvPr id="127" name="Text 5"/>
          <p:cNvSpPr txBox="1"/>
          <p:nvPr/>
        </p:nvSpPr>
        <p:spPr>
          <a:xfrm>
            <a:off x="621792" y="1719072"/>
            <a:ext cx="3070978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dirty="0"/>
              <a:t>6. ATTENTION MAPS</a:t>
            </a:r>
          </a:p>
        </p:txBody>
      </p:sp>
      <p:sp>
        <p:nvSpPr>
          <p:cNvPr id="128" name="Shape 6"/>
          <p:cNvSpPr/>
          <p:nvPr/>
        </p:nvSpPr>
        <p:spPr>
          <a:xfrm>
            <a:off x="180065" y="3032057"/>
            <a:ext cx="3840481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85" y="937082"/>
            <a:ext cx="7754510" cy="488325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Shape 0"/>
          <p:cNvSpPr/>
          <p:nvPr/>
        </p:nvSpPr>
        <p:spPr>
          <a:xfrm>
            <a:off x="-2" y="0"/>
            <a:ext cx="4343332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" name="Shape 1"/>
          <p:cNvSpPr/>
          <p:nvPr/>
        </p:nvSpPr>
        <p:spPr>
          <a:xfrm>
            <a:off x="4343330" y="0"/>
            <a:ext cx="7848366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3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7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9</a:t>
            </a:r>
          </a:p>
        </p:txBody>
      </p:sp>
      <p:sp>
        <p:nvSpPr>
          <p:cNvPr id="138" name="Text 5"/>
          <p:cNvSpPr txBox="1"/>
          <p:nvPr/>
        </p:nvSpPr>
        <p:spPr>
          <a:xfrm>
            <a:off x="621791" y="1719072"/>
            <a:ext cx="3469563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dirty="0"/>
              <a:t>7. FLUJO EXPERIMENTAL</a:t>
            </a:r>
          </a:p>
        </p:txBody>
      </p:sp>
      <p:sp>
        <p:nvSpPr>
          <p:cNvPr id="139" name="Shape 6"/>
          <p:cNvSpPr/>
          <p:nvPr/>
        </p:nvSpPr>
        <p:spPr>
          <a:xfrm>
            <a:off x="137158" y="3156560"/>
            <a:ext cx="3840481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30" y="640079"/>
            <a:ext cx="7848670" cy="521559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5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8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0</a:t>
            </a:r>
            <a:endParaRPr dirty="0"/>
          </a:p>
        </p:txBody>
      </p:sp>
      <p:sp>
        <p:nvSpPr>
          <p:cNvPr id="189" name="Text 5"/>
          <p:cNvSpPr txBox="1"/>
          <p:nvPr/>
        </p:nvSpPr>
        <p:spPr>
          <a:xfrm>
            <a:off x="473446" y="556598"/>
            <a:ext cx="4768108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s-ES" sz="3300" dirty="0"/>
              <a:t>8</a:t>
            </a:r>
            <a:r>
              <a:rPr sz="3300" dirty="0" smtClean="0"/>
              <a:t>. </a:t>
            </a:r>
            <a:r>
              <a:rPr sz="3300" dirty="0"/>
              <a:t>SHAP</a:t>
            </a:r>
            <a:r>
              <a:rPr dirty="0"/>
              <a:t> 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1400" b="0" i="1" dirty="0"/>
              <a:t>(</a:t>
            </a:r>
            <a:r>
              <a:rPr sz="1400" b="0" i="1" dirty="0" err="1"/>
              <a:t>SHapley</a:t>
            </a:r>
            <a:r>
              <a:rPr sz="1400" b="0" i="1" dirty="0"/>
              <a:t> Additive </a:t>
            </a:r>
            <a:r>
              <a:rPr sz="1400" b="0" i="1" dirty="0" err="1"/>
              <a:t>exPlanations</a:t>
            </a:r>
            <a:r>
              <a:rPr sz="1400" b="0" i="1" dirty="0"/>
              <a:t>)</a:t>
            </a:r>
          </a:p>
        </p:txBody>
      </p:sp>
      <p:sp>
        <p:nvSpPr>
          <p:cNvPr id="190" name="Shape 6"/>
          <p:cNvSpPr/>
          <p:nvPr/>
        </p:nvSpPr>
        <p:spPr>
          <a:xfrm>
            <a:off x="937259" y="1560952"/>
            <a:ext cx="3840481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3488"/>
            <a:ext cx="5714999" cy="3843154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1653488"/>
            <a:ext cx="6477001" cy="384315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5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9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1</a:t>
            </a:r>
            <a:endParaRPr dirty="0"/>
          </a:p>
        </p:txBody>
      </p:sp>
      <p:sp>
        <p:nvSpPr>
          <p:cNvPr id="200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36327"/>
            <a:ext cx="5715000" cy="478397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727718"/>
            <a:ext cx="6476695" cy="47925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4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83426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2</a:t>
            </a:r>
            <a:endParaRPr dirty="0"/>
          </a:p>
        </p:txBody>
      </p:sp>
      <p:sp>
        <p:nvSpPr>
          <p:cNvPr id="149" name="Text 5"/>
          <p:cNvSpPr txBox="1"/>
          <p:nvPr/>
        </p:nvSpPr>
        <p:spPr>
          <a:xfrm>
            <a:off x="621791" y="496107"/>
            <a:ext cx="4768108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lang="es-ES" sz="3400" dirty="0" smtClean="0"/>
              <a:t>9</a:t>
            </a:r>
            <a:r>
              <a:rPr sz="3300" dirty="0" smtClean="0"/>
              <a:t>. </a:t>
            </a:r>
            <a:r>
              <a:rPr sz="3300" dirty="0"/>
              <a:t>PCA</a:t>
            </a:r>
            <a:r>
              <a:rPr dirty="0"/>
              <a:t> 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1400" b="0" i="1" dirty="0"/>
              <a:t>(Principal Component Analysis)</a:t>
            </a:r>
          </a:p>
        </p:txBody>
      </p:sp>
      <p:sp>
        <p:nvSpPr>
          <p:cNvPr id="150" name="Shape 6"/>
          <p:cNvSpPr/>
          <p:nvPr/>
        </p:nvSpPr>
        <p:spPr>
          <a:xfrm>
            <a:off x="1043072" y="1560952"/>
            <a:ext cx="3840481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697" y="1639108"/>
            <a:ext cx="6477303" cy="396616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639108"/>
            <a:ext cx="5714696" cy="396616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5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3</a:t>
            </a:r>
            <a:endParaRPr dirty="0"/>
          </a:p>
        </p:txBody>
      </p:sp>
      <p:sp>
        <p:nvSpPr>
          <p:cNvPr id="160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2211"/>
            <a:ext cx="5714999" cy="463364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837268"/>
            <a:ext cx="6477001" cy="46385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Shape 0"/>
          <p:cNvSpPr/>
          <p:nvPr/>
        </p:nvSpPr>
        <p:spPr>
          <a:xfrm>
            <a:off x="0" y="-1270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" name="Shape 1"/>
          <p:cNvSpPr/>
          <p:nvPr/>
        </p:nvSpPr>
        <p:spPr>
          <a:xfrm>
            <a:off x="5715000" y="5862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" name="Text 2"/>
          <p:cNvSpPr txBox="1"/>
          <p:nvPr/>
        </p:nvSpPr>
        <p:spPr>
          <a:xfrm>
            <a:off x="553211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6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4</a:t>
            </a:r>
            <a:endParaRPr dirty="0"/>
          </a:p>
        </p:txBody>
      </p:sp>
      <p:sp>
        <p:nvSpPr>
          <p:cNvPr id="169" name="Text 5"/>
          <p:cNvSpPr txBox="1"/>
          <p:nvPr/>
        </p:nvSpPr>
        <p:spPr>
          <a:xfrm>
            <a:off x="473446" y="841423"/>
            <a:ext cx="4768108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 defTabSz="813816">
              <a:defRPr sz="3026" b="1">
                <a:solidFill>
                  <a:srgbClr val="FFFFFF"/>
                </a:solidFill>
              </a:defRPr>
            </a:pPr>
            <a:r>
              <a:rPr lang="es-ES" sz="3026" dirty="0" smtClean="0"/>
              <a:t>10</a:t>
            </a:r>
            <a:r>
              <a:rPr sz="2937" dirty="0" smtClean="0"/>
              <a:t>. </a:t>
            </a:r>
            <a:r>
              <a:rPr sz="2937" dirty="0" err="1"/>
              <a:t>oMEDA</a:t>
            </a:r>
            <a:r>
              <a:rPr dirty="0"/>
              <a:t> </a:t>
            </a:r>
          </a:p>
          <a:p>
            <a:pPr algn="ctr" defTabSz="813816">
              <a:defRPr sz="3026" b="1">
                <a:solidFill>
                  <a:srgbClr val="FFFFFF"/>
                </a:solidFill>
              </a:defRPr>
            </a:pPr>
            <a:r>
              <a:rPr sz="1246" b="0" i="1" dirty="0"/>
              <a:t>(</a:t>
            </a:r>
            <a:r>
              <a:rPr sz="1691" b="0" i="1" dirty="0">
                <a:latin typeface="+mj-lt"/>
                <a:ea typeface="+mj-ea"/>
                <a:cs typeface="+mj-cs"/>
                <a:sym typeface="Calibri"/>
              </a:rPr>
              <a:t>observation-based Missing-data methods for Exploratory Data Analysis</a:t>
            </a:r>
            <a:r>
              <a:rPr sz="1246" b="0" i="1" dirty="0"/>
              <a:t>)</a:t>
            </a:r>
          </a:p>
        </p:txBody>
      </p:sp>
      <p:sp>
        <p:nvSpPr>
          <p:cNvPr id="170" name="Shape 6"/>
          <p:cNvSpPr/>
          <p:nvPr/>
        </p:nvSpPr>
        <p:spPr>
          <a:xfrm>
            <a:off x="937260" y="1913662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093027"/>
            <a:ext cx="5714996" cy="337121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6" y="41032"/>
            <a:ext cx="5851021" cy="345332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7" y="3494358"/>
            <a:ext cx="5851020" cy="335094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17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6927" y="5753557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5</a:t>
            </a:r>
            <a:endParaRPr dirty="0"/>
          </a:p>
        </p:txBody>
      </p:sp>
      <p:sp>
        <p:nvSpPr>
          <p:cNvPr id="180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223"/>
            <a:ext cx="5705077" cy="482604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779223"/>
            <a:ext cx="6476695" cy="48260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0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6927" y="5760719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16</a:t>
            </a:r>
          </a:p>
        </p:txBody>
      </p:sp>
      <p:sp>
        <p:nvSpPr>
          <p:cNvPr id="209" name="Text 5"/>
          <p:cNvSpPr txBox="1"/>
          <p:nvPr/>
        </p:nvSpPr>
        <p:spPr>
          <a:xfrm>
            <a:off x="473446" y="660942"/>
            <a:ext cx="4768108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3300"/>
              <a:t>11. PLS-DA</a:t>
            </a:r>
            <a:r>
              <a:t> 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1400" b="0" i="1"/>
              <a:t>(Partial Least Squares Discriminant Analysis)</a:t>
            </a:r>
          </a:p>
        </p:txBody>
      </p:sp>
      <p:sp>
        <p:nvSpPr>
          <p:cNvPr id="210" name="Shape 6"/>
          <p:cNvSpPr/>
          <p:nvPr/>
        </p:nvSpPr>
        <p:spPr>
          <a:xfrm>
            <a:off x="937260" y="1690279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3833"/>
            <a:ext cx="5714999" cy="386808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62353"/>
            <a:ext cx="5715000" cy="344870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3511061"/>
            <a:ext cx="5715000" cy="330590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1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6927" y="5692946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9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17</a:t>
            </a:r>
          </a:p>
        </p:txBody>
      </p:sp>
      <p:sp>
        <p:nvSpPr>
          <p:cNvPr id="220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394"/>
            <a:ext cx="5714999" cy="474205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762394"/>
            <a:ext cx="6476696" cy="474013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Shape 0"/>
          <p:cNvSpPr/>
          <p:nvPr/>
        </p:nvSpPr>
        <p:spPr>
          <a:xfrm>
            <a:off x="0" y="-1270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2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18</a:t>
            </a:r>
          </a:p>
        </p:txBody>
      </p:sp>
      <p:sp>
        <p:nvSpPr>
          <p:cNvPr id="229" name="Text 5"/>
          <p:cNvSpPr txBox="1"/>
          <p:nvPr/>
        </p:nvSpPr>
        <p:spPr>
          <a:xfrm>
            <a:off x="473446" y="602625"/>
            <a:ext cx="4768108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3300" dirty="0"/>
              <a:t>12. ASCA</a:t>
            </a:r>
            <a:r>
              <a:rPr dirty="0"/>
              <a:t> 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rPr sz="1400" b="0" i="1" dirty="0"/>
              <a:t>(ANOVA-Simultaneous Component Analysis)</a:t>
            </a:r>
          </a:p>
        </p:txBody>
      </p:sp>
      <p:sp>
        <p:nvSpPr>
          <p:cNvPr id="230" name="Shape 6"/>
          <p:cNvSpPr/>
          <p:nvPr/>
        </p:nvSpPr>
        <p:spPr>
          <a:xfrm>
            <a:off x="937260" y="1619737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5892"/>
            <a:ext cx="5714999" cy="377349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34229"/>
            <a:ext cx="5793206" cy="351552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8" y="3549750"/>
            <a:ext cx="5793207" cy="323791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6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3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6927" y="5692946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9" name="Text 4"/>
          <p:cNvSpPr txBox="1"/>
          <p:nvPr/>
        </p:nvSpPr>
        <p:spPr>
          <a:xfrm>
            <a:off x="11631168" y="6323883"/>
            <a:ext cx="384049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19</a:t>
            </a:r>
          </a:p>
        </p:txBody>
      </p:sp>
      <p:sp>
        <p:nvSpPr>
          <p:cNvPr id="240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1442"/>
            <a:ext cx="5714999" cy="477598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751442"/>
            <a:ext cx="6477001" cy="477598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Shape 0"/>
          <p:cNvSpPr/>
          <p:nvPr/>
        </p:nvSpPr>
        <p:spPr>
          <a:xfrm>
            <a:off x="-304" y="0"/>
            <a:ext cx="4853658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Shape 1"/>
          <p:cNvSpPr/>
          <p:nvPr/>
        </p:nvSpPr>
        <p:spPr>
          <a:xfrm>
            <a:off x="4853354" y="0"/>
            <a:ext cx="7338341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6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5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9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2</a:t>
            </a:r>
            <a:r>
              <a:rPr lang="es-ES" dirty="0" smtClean="0"/>
              <a:t>0</a:t>
            </a:r>
            <a:endParaRPr dirty="0"/>
          </a:p>
        </p:txBody>
      </p:sp>
      <p:sp>
        <p:nvSpPr>
          <p:cNvPr id="260" name="Text 5"/>
          <p:cNvSpPr txBox="1"/>
          <p:nvPr/>
        </p:nvSpPr>
        <p:spPr>
          <a:xfrm>
            <a:off x="333169" y="1859749"/>
            <a:ext cx="44543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3</a:t>
            </a:r>
            <a:r>
              <a:rPr dirty="0" smtClean="0"/>
              <a:t>. </a:t>
            </a:r>
            <a:r>
              <a:rPr dirty="0"/>
              <a:t>INTERPRETACIÓN GLOBAL</a:t>
            </a:r>
          </a:p>
        </p:txBody>
      </p:sp>
      <p:sp>
        <p:nvSpPr>
          <p:cNvPr id="261" name="Shape 6"/>
          <p:cNvSpPr/>
          <p:nvPr/>
        </p:nvSpPr>
        <p:spPr>
          <a:xfrm>
            <a:off x="640080" y="3218688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353" y="740723"/>
            <a:ext cx="7338647" cy="495593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Shape 0"/>
          <p:cNvSpPr/>
          <p:nvPr/>
        </p:nvSpPr>
        <p:spPr>
          <a:xfrm>
            <a:off x="0" y="0"/>
            <a:ext cx="4642338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6" name="Shape 1"/>
          <p:cNvSpPr/>
          <p:nvPr/>
        </p:nvSpPr>
        <p:spPr>
          <a:xfrm>
            <a:off x="4642338" y="12700"/>
            <a:ext cx="7549357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7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68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0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2</a:t>
            </a:r>
            <a:r>
              <a:rPr lang="es-ES" dirty="0" smtClean="0"/>
              <a:t>1</a:t>
            </a:r>
            <a:endParaRPr dirty="0"/>
          </a:p>
        </p:txBody>
      </p:sp>
      <p:sp>
        <p:nvSpPr>
          <p:cNvPr id="271" name="Text 5"/>
          <p:cNvSpPr txBox="1"/>
          <p:nvPr/>
        </p:nvSpPr>
        <p:spPr>
          <a:xfrm>
            <a:off x="358022" y="1860797"/>
            <a:ext cx="480060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4</a:t>
            </a:r>
            <a:r>
              <a:rPr dirty="0" smtClean="0"/>
              <a:t>. </a:t>
            </a:r>
            <a:r>
              <a:rPr dirty="0"/>
              <a:t>CONCLUSIONES</a:t>
            </a:r>
          </a:p>
        </p:txBody>
      </p:sp>
      <p:sp>
        <p:nvSpPr>
          <p:cNvPr id="272" name="Shape 6"/>
          <p:cNvSpPr/>
          <p:nvPr/>
        </p:nvSpPr>
        <p:spPr>
          <a:xfrm>
            <a:off x="503506" y="3003797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3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37" y="847367"/>
            <a:ext cx="7549663" cy="47579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hape 0"/>
          <p:cNvSpPr/>
          <p:nvPr/>
        </p:nvSpPr>
        <p:spPr>
          <a:xfrm>
            <a:off x="0" y="0"/>
            <a:ext cx="4595446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" name="Shape 1"/>
          <p:cNvSpPr/>
          <p:nvPr/>
        </p:nvSpPr>
        <p:spPr>
          <a:xfrm>
            <a:off x="4595446" y="0"/>
            <a:ext cx="7596249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8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7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Shape 3"/>
          <p:cNvSpPr/>
          <p:nvPr/>
        </p:nvSpPr>
        <p:spPr>
          <a:xfrm>
            <a:off x="11631168" y="6199632"/>
            <a:ext cx="384049" cy="384049"/>
          </a:xfrm>
          <a:prstGeom prst="ellipse">
            <a:avLst/>
          </a:prstGeom>
          <a:solidFill>
            <a:srgbClr val="8F0829"/>
          </a:solidFill>
          <a:ln w="12700">
            <a:solidFill>
              <a:srgbClr val="8F0829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1" name="Text 4"/>
          <p:cNvSpPr txBox="1"/>
          <p:nvPr/>
        </p:nvSpPr>
        <p:spPr>
          <a:xfrm>
            <a:off x="11631168" y="6314712"/>
            <a:ext cx="384049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2</a:t>
            </a:r>
            <a:r>
              <a:rPr lang="es-ES" dirty="0" smtClean="0"/>
              <a:t>2</a:t>
            </a:r>
            <a:endParaRPr dirty="0"/>
          </a:p>
        </p:txBody>
      </p:sp>
      <p:sp>
        <p:nvSpPr>
          <p:cNvPr id="282" name="Text 5"/>
          <p:cNvSpPr txBox="1"/>
          <p:nvPr/>
        </p:nvSpPr>
        <p:spPr>
          <a:xfrm>
            <a:off x="621791" y="1719072"/>
            <a:ext cx="3903317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300" b="1">
                <a:solidFill>
                  <a:srgbClr val="FFFFFF"/>
                </a:solidFill>
              </a:defRPr>
            </a:lvl1pPr>
          </a:lstStyle>
          <a:p>
            <a:r>
              <a:rPr dirty="0" smtClean="0"/>
              <a:t>1</a:t>
            </a:r>
            <a:r>
              <a:rPr lang="es-ES" dirty="0" smtClean="0"/>
              <a:t>5</a:t>
            </a:r>
            <a:r>
              <a:rPr dirty="0" smtClean="0"/>
              <a:t>. </a:t>
            </a:r>
            <a:r>
              <a:rPr dirty="0"/>
              <a:t>FUTURA LÍNEA DE TRABAJO</a:t>
            </a:r>
          </a:p>
        </p:txBody>
      </p:sp>
      <p:sp>
        <p:nvSpPr>
          <p:cNvPr id="283" name="Shape 6"/>
          <p:cNvSpPr/>
          <p:nvPr/>
        </p:nvSpPr>
        <p:spPr>
          <a:xfrm>
            <a:off x="621791" y="3218687"/>
            <a:ext cx="3840480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4" name="Shape 7"/>
          <p:cNvSpPr/>
          <p:nvPr/>
        </p:nvSpPr>
        <p:spPr>
          <a:xfrm>
            <a:off x="6080759" y="658368"/>
            <a:ext cx="5349241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445" y="737733"/>
            <a:ext cx="7637587" cy="49619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Shape 0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73051F">
              <a:alpha val="95000"/>
            </a:srgbClr>
          </a:solidFill>
          <a:ln w="12700">
            <a:solidFill>
              <a:srgbClr val="73051F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8" name="Shape 1"/>
          <p:cNvSpPr/>
          <p:nvPr/>
        </p:nvSpPr>
        <p:spPr>
          <a:xfrm>
            <a:off x="5715000" y="0"/>
            <a:ext cx="6476695" cy="6858000"/>
          </a:xfrm>
          <a:prstGeom prst="rect">
            <a:avLst/>
          </a:prstGeom>
          <a:solidFill>
            <a:srgbClr val="F6EAE1">
              <a:alpha val="78000"/>
            </a:srgbClr>
          </a:solidFill>
          <a:ln w="12700">
            <a:solidFill>
              <a:srgbClr val="F6EAE1">
                <a:alpha val="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9" name="Text 2"/>
          <p:cNvSpPr txBox="1"/>
          <p:nvPr/>
        </p:nvSpPr>
        <p:spPr>
          <a:xfrm>
            <a:off x="566927" y="572307"/>
            <a:ext cx="2834641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rgbClr val="FFFFFF"/>
                </a:solidFill>
              </a:defRPr>
            </a:lvl1pPr>
          </a:lstStyle>
          <a:p>
            <a:r>
              <a:t>UNIVERSIDAD DE GRANADA</a:t>
            </a:r>
          </a:p>
        </p:txBody>
      </p:sp>
      <p:pic>
        <p:nvPicPr>
          <p:cNvPr id="29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5605271"/>
            <a:ext cx="2697481" cy="630937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Text 3"/>
          <p:cNvSpPr txBox="1"/>
          <p:nvPr/>
        </p:nvSpPr>
        <p:spPr>
          <a:xfrm>
            <a:off x="621792" y="2091940"/>
            <a:ext cx="4480560" cy="616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 b="1">
                <a:solidFill>
                  <a:srgbClr val="FFFFFF"/>
                </a:solidFill>
              </a:defRPr>
            </a:lvl1pPr>
          </a:lstStyle>
          <a:p>
            <a:r>
              <a:t>GRACIAS</a:t>
            </a:r>
          </a:p>
        </p:txBody>
      </p:sp>
      <p:sp>
        <p:nvSpPr>
          <p:cNvPr id="292" name="Shape 4"/>
          <p:cNvSpPr/>
          <p:nvPr/>
        </p:nvSpPr>
        <p:spPr>
          <a:xfrm>
            <a:off x="640080" y="3035807"/>
            <a:ext cx="3657601" cy="1"/>
          </a:xfrm>
          <a:prstGeom prst="line">
            <a:avLst/>
          </a:prstGeom>
          <a:ln w="38100">
            <a:solidFill>
              <a:srgbClr val="D8B14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3" name="Text 5"/>
          <p:cNvSpPr txBox="1"/>
          <p:nvPr/>
        </p:nvSpPr>
        <p:spPr>
          <a:xfrm>
            <a:off x="640080" y="4754879"/>
            <a:ext cx="4297680" cy="411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Inteligencia Artificial Explicativa (XAI)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Métodos y Prueba de Concepto</a:t>
            </a:r>
          </a:p>
        </p:txBody>
      </p:sp>
      <p:sp>
        <p:nvSpPr>
          <p:cNvPr id="294" name="Text 6"/>
          <p:cNvSpPr txBox="1"/>
          <p:nvPr/>
        </p:nvSpPr>
        <p:spPr>
          <a:xfrm>
            <a:off x="640080" y="5285232"/>
            <a:ext cx="4114801" cy="21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">
                <a:solidFill>
                  <a:srgbClr val="F6EAE1"/>
                </a:solidFill>
              </a:defRPr>
            </a:lvl1pPr>
          </a:lstStyle>
          <a:p>
            <a:r>
              <a:t>Trabajo Final de Grado · Adrián Macias Caballero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325</Words>
  <Application>Microsoft Office PowerPoint</Application>
  <PresentationFormat>Panorámica</PresentationFormat>
  <Paragraphs>97</Paragraphs>
  <Slides>23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Roboto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Usuario</cp:lastModifiedBy>
  <cp:revision>12</cp:revision>
  <dcterms:modified xsi:type="dcterms:W3CDTF">2026-06-24T10:32:20Z</dcterms:modified>
</cp:coreProperties>
</file>